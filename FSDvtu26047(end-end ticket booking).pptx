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6D9E3-B2C7-4527-957B-887C7F3504C0}" v="11" dt="2026-03-23T16:01:44.324"/>
    <p1510:client id="{7EEB0783-1A84-406D-8359-F879387E3029}" v="24" dt="2026-03-24T06:02:47.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109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Information Technology</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10211IT224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dirty="0"/>
              <a:t>25-03-2026 </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846508" y="5989871"/>
            <a:ext cx="15784162" cy="584775"/>
          </a:xfrm>
          <a:prstGeom prst="rect">
            <a:avLst/>
          </a:prstGeom>
          <a:noFill/>
        </p:spPr>
        <p:txBody>
          <a:bodyPr wrap="square" rtlCol="0">
            <a:spAutoFit/>
          </a:bodyPr>
          <a:lstStyle/>
          <a:p>
            <a:pPr algn="ctr"/>
            <a:r>
              <a:rPr lang="en-US" sz="3200" dirty="0">
                <a:highlight>
                  <a:srgbClr val="00FFFF"/>
                </a:highlight>
              </a:rPr>
              <a:t>End-to-End Event Lifecycle &amp; Ticketing Platform</a:t>
            </a:r>
            <a:endParaRPr lang="en-IN" sz="3200" b="1" dirty="0">
              <a:highlight>
                <a:srgbClr val="00FFFF"/>
              </a:highligh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46508" y="7275553"/>
            <a:ext cx="9067800" cy="277665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STUDENT NAME – </a:t>
            </a:r>
            <a:r>
              <a:rPr lang="en-US" sz="3000" dirty="0" err="1">
                <a:latin typeface="Cambria" panose="02040503050406030204" pitchFamily="18" charset="0"/>
                <a:ea typeface="Cambria" panose="02040503050406030204" pitchFamily="18" charset="0"/>
              </a:rPr>
              <a:t>v.v.s</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siva</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kumar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VTU –26047</a:t>
            </a:r>
          </a:p>
          <a:p>
            <a:pPr>
              <a:lnSpc>
                <a:spcPct val="150000"/>
              </a:lnSpc>
            </a:pPr>
            <a:r>
              <a:rPr lang="en-US" sz="3000" dirty="0">
                <a:latin typeface="Cambria" panose="02040503050406030204" pitchFamily="18" charset="0"/>
                <a:ea typeface="Cambria" panose="02040503050406030204" pitchFamily="18" charset="0"/>
              </a:rPr>
              <a:t>Reg.No:23UEIT0058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a:t>
            </a:r>
            <a:r>
              <a:rPr lang="en-US" sz="3000" dirty="0" err="1">
                <a:latin typeface="Cambria" panose="02040503050406030204" pitchFamily="18" charset="0"/>
                <a:ea typeface="Cambria" panose="02040503050406030204" pitchFamily="18" charset="0"/>
              </a:rPr>
              <a:t>Visumathi</a:t>
            </a:r>
            <a:r>
              <a:rPr lang="en-US" sz="3000" dirty="0">
                <a:latin typeface="Cambria" panose="02040503050406030204" pitchFamily="18" charset="0"/>
                <a:ea typeface="Cambria" panose="02040503050406030204" pitchFamily="18" charset="0"/>
              </a:rPr>
              <a:t> J/ Professor/ IT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981200" y="1741462"/>
            <a:ext cx="15082325" cy="7294305"/>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Event management has become an essential part of modern digital platforms, especially for booking and organizing events efficiently. Many users still face difficulties in discovering events, booking tickets, and managing bookings manually</a:t>
            </a:r>
            <a:r>
              <a:rPr lang="en-US" sz="2800" dirty="0"/>
              <a:t>.</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The </a:t>
            </a:r>
            <a:r>
              <a:rPr lang="en-US" sz="3600" b="1" dirty="0"/>
              <a:t>End-to-End Event Lifecycle &amp; Ticketing Platform (EventHub</a:t>
            </a:r>
            <a:r>
              <a:rPr lang="en-US" sz="2800" b="1" dirty="0"/>
              <a:t>)</a:t>
            </a:r>
            <a:r>
              <a:rPr lang="en-US" sz="2800" dirty="0"/>
              <a:t> is a web-based application designed to simplify event discovery, booking, and management. It provides a seamless experience from event creation to ticket booking and tracking.</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3200" b="1" dirty="0"/>
              <a:t>The platform ensures</a:t>
            </a:r>
            <a:r>
              <a:rPr lang="en-US" sz="2800" dirty="0"/>
              <a:t>:</a:t>
            </a:r>
          </a:p>
          <a:p>
            <a:pPr marL="1371600" lvl="2" indent="-457200">
              <a:buFont typeface="Arial" panose="020B0604020202020204" pitchFamily="34" charset="0"/>
              <a:buChar char="•"/>
            </a:pPr>
            <a:r>
              <a:rPr lang="en-US" sz="2800" dirty="0"/>
              <a:t>Easy browsing of events </a:t>
            </a:r>
          </a:p>
          <a:p>
            <a:pPr marL="1371600" lvl="2" indent="-457200">
              <a:buFont typeface="Arial" panose="020B0604020202020204" pitchFamily="34" charset="0"/>
              <a:buChar char="•"/>
            </a:pPr>
            <a:r>
              <a:rPr lang="en-US" sz="2800" dirty="0"/>
              <a:t>Quick ticket booking </a:t>
            </a:r>
          </a:p>
          <a:p>
            <a:pPr marL="1371600" lvl="2" indent="-457200">
              <a:buFont typeface="Arial" panose="020B0604020202020204" pitchFamily="34" charset="0"/>
              <a:buChar char="•"/>
            </a:pPr>
            <a:r>
              <a:rPr lang="en-US" sz="2800" dirty="0"/>
              <a:t>Organized event lifecycle management </a:t>
            </a:r>
          </a:p>
          <a:p>
            <a:pPr marL="1371600" lvl="2" indent="-457200">
              <a:buFont typeface="Arial" panose="020B0604020202020204" pitchFamily="34" charset="0"/>
              <a:buChar char="•"/>
            </a:pPr>
            <a:r>
              <a:rPr lang="en-US" sz="2800" dirty="0"/>
              <a:t>Improved user experience</a:t>
            </a:r>
          </a:p>
          <a:p>
            <a:pPr marL="457200" indent="-457200">
              <a:buFont typeface="Wingdings" panose="05000000000000000000" pitchFamily="2" charset="2"/>
              <a:buChar char="Ø"/>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81200" y="1653819"/>
            <a:ext cx="15082325" cy="14927163"/>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In many cases, event management and ticket booking are handled manually or through disconnected systems.</a:t>
            </a:r>
          </a:p>
          <a:p>
            <a:pPr marL="571500" indent="-571500">
              <a:buFont typeface="Wingdings" panose="05000000000000000000" pitchFamily="2" charset="2"/>
              <a:buChar char="Ø"/>
            </a:pPr>
            <a:endParaRPr lang="en-US" sz="4400" dirty="0"/>
          </a:p>
          <a:p>
            <a:pPr marL="457200" indent="-457200">
              <a:buFont typeface="Wingdings" panose="05000000000000000000" pitchFamily="2" charset="2"/>
              <a:buChar char="Ø"/>
            </a:pPr>
            <a:r>
              <a:rPr lang="en-US" sz="3200" dirty="0"/>
              <a:t>This leads to difficulties in event discovery, complex booking procedures, and lack of proper tracking mechanisms. Users may face confusion while booking tickets, and administrators may struggle to manage multiple events simultaneously.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 Additionally, the absence of real-time updates can result in inaccurate information and poor user satisfaction. Therefore, there is a need for a well-structured and automated system that can handle event lifecycle and ticketing operations efficiently.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These issues highlight the need for a </a:t>
            </a:r>
            <a:r>
              <a:rPr lang="en-US" sz="3200" b="1" dirty="0"/>
              <a:t>modern, automated, and user-friendly event management system</a:t>
            </a:r>
            <a:r>
              <a:rPr lang="en-US" sz="3200" dirty="0"/>
              <a:t> that can handle all operations efficiently.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176975" y="985621"/>
            <a:ext cx="15082325" cy="10310515"/>
          </a:xfrm>
          <a:prstGeom prst="rect">
            <a:avLst/>
          </a:prstGeom>
          <a:noFill/>
        </p:spPr>
        <p:txBody>
          <a:bodyPr wrap="square" rtlCol="0">
            <a:spAutoFit/>
          </a:bodyPr>
          <a:lstStyle/>
          <a:p>
            <a:endParaRPr lang="en-US" sz="3200" b="1" dirty="0"/>
          </a:p>
          <a:p>
            <a:pPr marL="457200" indent="-457200">
              <a:buFont typeface="Wingdings" panose="05000000000000000000" pitchFamily="2" charset="2"/>
              <a:buChar char="Ø"/>
            </a:pPr>
            <a:endParaRPr lang="en-US" sz="2800" dirty="0"/>
          </a:p>
          <a:p>
            <a:pPr marL="457200" indent="-457200">
              <a:buFont typeface="Arial" panose="020B0604020202020204" pitchFamily="34" charset="0"/>
              <a:buChar char="•"/>
            </a:pPr>
            <a:r>
              <a:rPr lang="en-US" sz="3600" dirty="0"/>
              <a:t>To build a complete event lifecycle management system</a:t>
            </a:r>
          </a:p>
          <a:p>
            <a:r>
              <a:rPr lang="en-US" sz="3600" dirty="0"/>
              <a:t> </a:t>
            </a:r>
          </a:p>
          <a:p>
            <a:pPr marL="457200" indent="-457200">
              <a:buFont typeface="Arial" panose="020B0604020202020204" pitchFamily="34" charset="0"/>
              <a:buChar char="•"/>
            </a:pPr>
            <a:r>
              <a:rPr lang="en-US" sz="3600" dirty="0"/>
              <a:t>To provide a simple and interactive user interface </a:t>
            </a:r>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r>
              <a:rPr lang="en-US" sz="3600" dirty="0"/>
              <a:t>To allow users to browse and book tickets easily </a:t>
            </a:r>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r>
              <a:rPr lang="en-US" sz="3600" dirty="0"/>
              <a:t>To enable admins to create and manage events</a:t>
            </a:r>
          </a:p>
          <a:p>
            <a:r>
              <a:rPr lang="en-US" sz="3600" dirty="0"/>
              <a:t> </a:t>
            </a:r>
          </a:p>
          <a:p>
            <a:pPr marL="457200" indent="-457200">
              <a:buFont typeface="Arial" panose="020B0604020202020204" pitchFamily="34" charset="0"/>
              <a:buChar char="•"/>
            </a:pPr>
            <a:r>
              <a:rPr lang="en-US" sz="3600" dirty="0"/>
              <a:t>To track bookings and event statistics in real-time </a:t>
            </a:r>
          </a:p>
          <a:p>
            <a:endParaRPr lang="en-US" sz="3600" dirty="0"/>
          </a:p>
          <a:p>
            <a:pPr marL="457200" indent="-457200">
              <a:buFont typeface="Arial" panose="020B0604020202020204" pitchFamily="34" charset="0"/>
              <a:buChar char="•"/>
            </a:pPr>
            <a:r>
              <a:rPr lang="en-US" sz="3600" dirty="0"/>
              <a:t>To reduce manual errors and improve efficiency</a:t>
            </a:r>
          </a:p>
          <a:p>
            <a:pPr marL="457200" indent="-457200">
              <a:buFont typeface="Arial" panose="020B0604020202020204" pitchFamily="34" charset="0"/>
              <a:buChar char="•"/>
            </a:pPr>
            <a:endParaRPr lang="en-US" sz="40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4373165"/>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t>The proposed system is a </a:t>
            </a:r>
            <a:r>
              <a:rPr lang="en-US" sz="2800" b="1" dirty="0"/>
              <a:t>web-based Event Lifecycle &amp; Ticketing Platform</a:t>
            </a:r>
            <a:r>
              <a:rPr lang="en-US" sz="2800" dirty="0"/>
              <a:t>.</a:t>
            </a:r>
          </a:p>
          <a:p>
            <a:endParaRPr lang="en-US" sz="2800" dirty="0"/>
          </a:p>
          <a:p>
            <a:pPr marL="914400" lvl="1" indent="-457200">
              <a:buFont typeface="Arial" panose="020B0604020202020204" pitchFamily="34" charset="0"/>
              <a:buChar char="•"/>
            </a:pPr>
            <a:r>
              <a:rPr lang="en-US" sz="3600" dirty="0"/>
              <a:t>User-friendly homepage (index.html)</a:t>
            </a:r>
          </a:p>
          <a:p>
            <a:r>
              <a:rPr lang="en-US" sz="3600" dirty="0"/>
              <a:t> </a:t>
            </a:r>
          </a:p>
          <a:p>
            <a:pPr marL="914400" lvl="1" indent="-457200">
              <a:buFont typeface="Arial" panose="020B0604020202020204" pitchFamily="34" charset="0"/>
              <a:buChar char="•"/>
            </a:pPr>
            <a:r>
              <a:rPr lang="en-US" sz="3600" dirty="0"/>
              <a:t>Event browsing section </a:t>
            </a:r>
          </a:p>
          <a:p>
            <a:pPr marL="914400" lvl="1" indent="-457200">
              <a:buFont typeface="Arial" panose="020B0604020202020204" pitchFamily="34" charset="0"/>
              <a:buChar char="•"/>
            </a:pPr>
            <a:endParaRPr lang="en-US" sz="3600" dirty="0"/>
          </a:p>
          <a:p>
            <a:pPr marL="914400" lvl="1" indent="-457200">
              <a:buFont typeface="Arial" panose="020B0604020202020204" pitchFamily="34" charset="0"/>
              <a:buChar char="•"/>
            </a:pPr>
            <a:r>
              <a:rPr lang="en-US" sz="3600" dirty="0"/>
              <a:t>Ticket booking system (Cart &amp; Booking)</a:t>
            </a:r>
          </a:p>
          <a:p>
            <a:pPr lvl="1"/>
            <a:r>
              <a:rPr lang="en-US" sz="3600" dirty="0"/>
              <a:t> </a:t>
            </a:r>
          </a:p>
          <a:p>
            <a:pPr marL="914400" lvl="1" indent="-457200">
              <a:buFont typeface="Arial" panose="020B0604020202020204" pitchFamily="34" charset="0"/>
              <a:buChar char="•"/>
            </a:pPr>
            <a:r>
              <a:rPr lang="en-US" sz="3600" dirty="0"/>
              <a:t>Admin panel to create events </a:t>
            </a:r>
          </a:p>
          <a:p>
            <a:pPr marL="914400" lvl="1" indent="-457200">
              <a:buFont typeface="Arial" panose="020B0604020202020204" pitchFamily="34" charset="0"/>
              <a:buChar char="•"/>
            </a:pPr>
            <a:endParaRPr lang="en-US" sz="3600" dirty="0"/>
          </a:p>
          <a:p>
            <a:pPr marL="914400" lvl="1" indent="-457200">
              <a:buFont typeface="Arial" panose="020B0604020202020204" pitchFamily="34" charset="0"/>
              <a:buChar char="•"/>
            </a:pPr>
            <a:r>
              <a:rPr lang="en-US" sz="3600" dirty="0"/>
              <a:t>Real-time event updates </a:t>
            </a:r>
          </a:p>
          <a:p>
            <a:pPr marL="914400" lvl="1" indent="-457200">
              <a:buFont typeface="Arial" panose="020B0604020202020204" pitchFamily="34" charset="0"/>
              <a:buChar char="•"/>
            </a:pPr>
            <a:endParaRPr lang="en-US" sz="3600" dirty="0"/>
          </a:p>
          <a:p>
            <a:pPr marL="914400" lvl="1" indent="-457200">
              <a:buFont typeface="Arial" panose="020B0604020202020204" pitchFamily="34" charset="0"/>
              <a:buChar char="•"/>
            </a:pPr>
            <a:r>
              <a:rPr lang="en-US" sz="3600" dirty="0"/>
              <a:t>Dashboard statistics (events, tickets, revenue</a:t>
            </a:r>
            <a:r>
              <a:rPr lang="en-US" sz="3200" dirty="0"/>
              <a:t>)</a:t>
            </a:r>
          </a:p>
          <a:p>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r>
              <a:rPr lang="en-US" sz="2800" dirty="0"/>
              <a:t>            </a:t>
            </a:r>
          </a:p>
          <a:p>
            <a:r>
              <a:rPr lang="en-US" sz="2800" dirty="0"/>
              <a:t>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A90A8C3-6136-1130-FE1E-E4496C7312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8126" y="1714500"/>
            <a:ext cx="15338365" cy="7623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BF20ADC2-E980-D5D7-E8CE-8D4AE8543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16756" y="1554755"/>
            <a:ext cx="15142544" cy="8153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70087" y="2015465"/>
            <a:ext cx="15082325" cy="11079956"/>
          </a:xfrm>
          <a:prstGeom prst="rect">
            <a:avLst/>
          </a:prstGeom>
          <a:noFill/>
        </p:spPr>
        <p:txBody>
          <a:bodyPr wrap="square" rtlCol="0">
            <a:spAutoFit/>
          </a:bodyPr>
          <a:lstStyle/>
          <a:p>
            <a:endParaRPr lang="en-US" dirty="0"/>
          </a:p>
          <a:p>
            <a:pPr marL="457200" indent="-457200">
              <a:buFont typeface="Wingdings" panose="05000000000000000000" pitchFamily="2" charset="2"/>
              <a:buChar char="Ø"/>
            </a:pPr>
            <a:r>
              <a:rPr lang="en-IN" sz="4000" b="1" dirty="0"/>
              <a:t>Frontend:</a:t>
            </a:r>
            <a:r>
              <a:rPr lang="en-IN" sz="4000" dirty="0"/>
              <a:t> HTML5, CSS3, JavaScript</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Backend (Optional/Extension):</a:t>
            </a:r>
            <a:r>
              <a:rPr lang="en-IN" sz="4000" dirty="0"/>
              <a:t> Node.js / PHP</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Storage:</a:t>
            </a:r>
            <a:r>
              <a:rPr lang="en-IN" sz="4000" dirty="0"/>
              <a:t> </a:t>
            </a:r>
            <a:r>
              <a:rPr lang="en-IN" sz="4000" dirty="0" err="1"/>
              <a:t>LocalStorage</a:t>
            </a:r>
            <a:r>
              <a:rPr lang="en-IN" sz="4000" dirty="0"/>
              <a:t> / Database</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Tools:</a:t>
            </a:r>
            <a:r>
              <a:rPr lang="en-IN" sz="4000" dirty="0"/>
              <a:t> VS Code</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Platform:</a:t>
            </a:r>
            <a:r>
              <a:rPr lang="en-IN" sz="4000" dirty="0"/>
              <a:t> Web Browser</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444002" y="1825369"/>
            <a:ext cx="15082325" cy="6986528"/>
          </a:xfrm>
          <a:prstGeom prst="rect">
            <a:avLst/>
          </a:prstGeom>
          <a:noFill/>
        </p:spPr>
        <p:txBody>
          <a:bodyPr wrap="square" rtlCol="0">
            <a:spAutoFit/>
          </a:bodyPr>
          <a:lstStyle/>
          <a:p>
            <a:pPr marL="457200" indent="-457200">
              <a:buFont typeface="Wingdings" panose="05000000000000000000" pitchFamily="2" charset="2"/>
              <a:buChar char="Ø"/>
            </a:pPr>
            <a:r>
              <a:rPr lang="en-US" sz="2800" b="1" dirty="0"/>
              <a:t>User Interface</a:t>
            </a:r>
          </a:p>
          <a:p>
            <a:pPr marL="1828800" lvl="3" indent="-457200">
              <a:buFont typeface="Arial" panose="020B0604020202020204" pitchFamily="34" charset="0"/>
              <a:buChar char="•"/>
            </a:pPr>
            <a:r>
              <a:rPr lang="en-US" sz="2800" dirty="0"/>
              <a:t>Homepage with navigation bar </a:t>
            </a:r>
          </a:p>
          <a:p>
            <a:pPr marL="1828800" lvl="3" indent="-457200">
              <a:buFont typeface="Arial" panose="020B0604020202020204" pitchFamily="34" charset="0"/>
              <a:buChar char="•"/>
            </a:pPr>
            <a:r>
              <a:rPr lang="en-US" sz="2800" dirty="0"/>
              <a:t>Hero section and featured events </a:t>
            </a:r>
          </a:p>
          <a:p>
            <a:pPr marL="457200" indent="-457200">
              <a:buFont typeface="Wingdings" panose="05000000000000000000" pitchFamily="2" charset="2"/>
              <a:buChar char="Ø"/>
            </a:pPr>
            <a:r>
              <a:rPr lang="en-US" sz="2800" b="1" dirty="0"/>
              <a:t>Event Management</a:t>
            </a:r>
          </a:p>
          <a:p>
            <a:pPr marL="1828800" lvl="3" indent="-457200">
              <a:buFont typeface="Arial" panose="020B0604020202020204" pitchFamily="34" charset="0"/>
              <a:buChar char="•"/>
            </a:pPr>
            <a:r>
              <a:rPr lang="en-US" sz="2800" dirty="0"/>
              <a:t>Display all events </a:t>
            </a:r>
          </a:p>
          <a:p>
            <a:pPr marL="1828800" lvl="3" indent="-457200">
              <a:buFont typeface="Arial" panose="020B0604020202020204" pitchFamily="34" charset="0"/>
              <a:buChar char="•"/>
            </a:pPr>
            <a:r>
              <a:rPr lang="en-US" sz="2800" dirty="0"/>
              <a:t>Show event details </a:t>
            </a:r>
          </a:p>
          <a:p>
            <a:pPr marL="457200" indent="-457200">
              <a:buFont typeface="Wingdings" panose="05000000000000000000" pitchFamily="2" charset="2"/>
              <a:buChar char="Ø"/>
            </a:pPr>
            <a:r>
              <a:rPr lang="en-US" sz="2800" b="1" dirty="0"/>
              <a:t>Booking System</a:t>
            </a:r>
          </a:p>
          <a:p>
            <a:pPr marL="1828800" lvl="3" indent="-457200">
              <a:buFont typeface="Arial" panose="020B0604020202020204" pitchFamily="34" charset="0"/>
              <a:buChar char="•"/>
            </a:pPr>
            <a:r>
              <a:rPr lang="en-US" sz="2800" dirty="0"/>
              <a:t> Add to cart </a:t>
            </a:r>
          </a:p>
          <a:p>
            <a:pPr marL="1828800" lvl="3" indent="-457200">
              <a:buFont typeface="Arial" panose="020B0604020202020204" pitchFamily="34" charset="0"/>
              <a:buChar char="•"/>
            </a:pPr>
            <a:r>
              <a:rPr lang="en-US" sz="2800" dirty="0"/>
              <a:t> Manage bookings </a:t>
            </a:r>
          </a:p>
          <a:p>
            <a:pPr marL="457200" indent="-457200">
              <a:buFont typeface="Wingdings" panose="05000000000000000000" pitchFamily="2" charset="2"/>
              <a:buChar char="Ø"/>
            </a:pPr>
            <a:r>
              <a:rPr lang="en-US" sz="2800" b="1" dirty="0"/>
              <a:t>Admin Panel</a:t>
            </a:r>
          </a:p>
          <a:p>
            <a:pPr marL="1828800" lvl="3" indent="-457200">
              <a:buFont typeface="Arial" panose="020B0604020202020204" pitchFamily="34" charset="0"/>
              <a:buChar char="•"/>
            </a:pPr>
            <a:r>
              <a:rPr lang="en-US" sz="2800" dirty="0"/>
              <a:t>  Create new events </a:t>
            </a:r>
          </a:p>
          <a:p>
            <a:pPr marL="1828800" lvl="3" indent="-457200">
              <a:buFont typeface="Arial" panose="020B0604020202020204" pitchFamily="34" charset="0"/>
              <a:buChar char="•"/>
            </a:pPr>
            <a:r>
              <a:rPr lang="en-US" sz="2800" dirty="0"/>
              <a:t>  Manage event details </a:t>
            </a:r>
          </a:p>
          <a:p>
            <a:pPr marL="457200" indent="-457200">
              <a:buFont typeface="Wingdings" panose="05000000000000000000" pitchFamily="2" charset="2"/>
              <a:buChar char="Ø"/>
            </a:pPr>
            <a:r>
              <a:rPr lang="en-US" sz="2800" b="1" dirty="0"/>
              <a:t>Dashboard &amp; Stats</a:t>
            </a:r>
          </a:p>
          <a:p>
            <a:pPr marL="1828800" lvl="3" indent="-457200">
              <a:buFont typeface="Arial" panose="020B0604020202020204" pitchFamily="34" charset="0"/>
              <a:buChar char="•"/>
            </a:pPr>
            <a:r>
              <a:rPr lang="en-US" sz="2800" dirty="0"/>
              <a:t>  Total events </a:t>
            </a:r>
          </a:p>
          <a:p>
            <a:pPr marL="1828800" lvl="3" indent="-457200">
              <a:buFont typeface="Arial" panose="020B0604020202020204" pitchFamily="34" charset="0"/>
              <a:buChar char="•"/>
            </a:pPr>
            <a:r>
              <a:rPr lang="en-US" sz="2800" dirty="0"/>
              <a:t>  Tickets sold </a:t>
            </a:r>
          </a:p>
          <a:p>
            <a:pPr marL="1828800" lvl="3" indent="-457200">
              <a:buFont typeface="Arial" panose="020B0604020202020204" pitchFamily="34" charset="0"/>
              <a:buChar char="•"/>
            </a:pPr>
            <a:r>
              <a:rPr lang="en-US" sz="2800" dirty="0"/>
              <a:t>  Revenue tracking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1811917" y="1695376"/>
            <a:ext cx="15082325" cy="9017853"/>
          </a:xfrm>
          <a:prstGeom prst="rect">
            <a:avLst/>
          </a:prstGeom>
          <a:noFill/>
        </p:spPr>
        <p:txBody>
          <a:bodyPr wrap="square" rtlCol="0">
            <a:spAutoFit/>
          </a:bodyPr>
          <a:lstStyle/>
          <a:p>
            <a:r>
              <a:rPr lang="en-US" sz="2800" b="1" dirty="0"/>
              <a:t>Home Page:</a:t>
            </a:r>
          </a:p>
          <a:p>
            <a:pPr marL="457200" indent="-457200">
              <a:buFont typeface="Wingdings" panose="05000000000000000000" pitchFamily="2" charset="2"/>
              <a:buChar char="§"/>
            </a:pPr>
            <a:r>
              <a:rPr lang="en-US" sz="3200" dirty="0"/>
              <a:t>Displays EventHub title</a:t>
            </a:r>
          </a:p>
          <a:p>
            <a:r>
              <a:rPr lang="en-US" sz="3200" dirty="0"/>
              <a:t> </a:t>
            </a:r>
          </a:p>
          <a:p>
            <a:pPr marL="457200" indent="-457200">
              <a:buFont typeface="Wingdings" panose="05000000000000000000" pitchFamily="2" charset="2"/>
              <a:buChar char="§"/>
            </a:pPr>
            <a:r>
              <a:rPr lang="en-US" sz="3200" dirty="0"/>
              <a:t>Navigation bar (Home, Events, Cart, Bookings)</a:t>
            </a:r>
          </a:p>
          <a:p>
            <a:r>
              <a:rPr lang="en-US" sz="3200" dirty="0"/>
              <a:t> </a:t>
            </a:r>
          </a:p>
          <a:p>
            <a:pPr marL="457200" indent="-457200">
              <a:buFont typeface="Wingdings" panose="05000000000000000000" pitchFamily="2" charset="2"/>
              <a:buChar char="§"/>
            </a:pPr>
            <a:r>
              <a:rPr lang="en-US" sz="3200" dirty="0"/>
              <a:t>Hero section with CTA button</a:t>
            </a:r>
          </a:p>
          <a:p>
            <a:pPr marL="457200" indent="-457200">
              <a:buFont typeface="Wingdings" panose="05000000000000000000" pitchFamily="2" charset="2"/>
              <a:buChar char="§"/>
            </a:pPr>
            <a:endParaRPr lang="en-US" sz="2800" dirty="0"/>
          </a:p>
          <a:p>
            <a:r>
              <a:rPr lang="en-US" sz="2800" dirty="0"/>
              <a:t>Displays the main homepage of the system with the</a:t>
            </a:r>
          </a:p>
          <a:p>
            <a:r>
              <a:rPr lang="en-US" sz="2800" dirty="0"/>
              <a:t>platform name EventHub and navigation menu at the top</a:t>
            </a:r>
          </a:p>
          <a:p>
            <a:pPr marL="457200" indent="-457200">
              <a:buFontTx/>
              <a:buChar char="-"/>
            </a:pPr>
            <a:endParaRPr lang="en-US" sz="2800" dirty="0"/>
          </a:p>
          <a:p>
            <a:pPr marL="457200" indent="-457200">
              <a:buFontTx/>
              <a:buChar char="-"/>
            </a:pPr>
            <a:endParaRPr lang="en-US" sz="2800" dirty="0"/>
          </a:p>
          <a:p>
            <a:r>
              <a:rPr lang="en-US" sz="2800" dirty="0"/>
              <a:t>It includes options like Home, Browse Events, My Bookings, </a:t>
            </a:r>
          </a:p>
          <a:p>
            <a:r>
              <a:rPr lang="en-US" sz="2800" dirty="0"/>
              <a:t>and Cart. Acts as the entry point for users to explore</a:t>
            </a:r>
          </a:p>
          <a:p>
            <a:r>
              <a:rPr lang="en-US" sz="2800" dirty="0"/>
              <a:t> the platform easily.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C70C4F48-37C5-820A-529F-CBEA3B0DFE15}"/>
              </a:ext>
            </a:extLst>
          </p:cNvPr>
          <p:cNvPicPr>
            <a:picLocks noChangeAspect="1"/>
          </p:cNvPicPr>
          <p:nvPr/>
        </p:nvPicPr>
        <p:blipFill>
          <a:blip r:embed="rId4"/>
          <a:stretch>
            <a:fillRect/>
          </a:stretch>
        </p:blipFill>
        <p:spPr>
          <a:xfrm>
            <a:off x="10591800" y="7555188"/>
            <a:ext cx="7424226" cy="2461473"/>
          </a:xfrm>
          <a:prstGeom prst="rect">
            <a:avLst/>
          </a:prstGeom>
        </p:spPr>
      </p:pic>
      <p:pic>
        <p:nvPicPr>
          <p:cNvPr id="38" name="Picture 37">
            <a:extLst>
              <a:ext uri="{FF2B5EF4-FFF2-40B4-BE49-F238E27FC236}">
                <a16:creationId xmlns:a16="http://schemas.microsoft.com/office/drawing/2014/main" id="{6F2EDDFE-2E5C-0E06-25F8-FB456602CE51}"/>
              </a:ext>
            </a:extLst>
          </p:cNvPr>
          <p:cNvPicPr>
            <a:picLocks noChangeAspect="1"/>
          </p:cNvPicPr>
          <p:nvPr/>
        </p:nvPicPr>
        <p:blipFill>
          <a:blip r:embed="rId5"/>
          <a:stretch>
            <a:fillRect/>
          </a:stretch>
        </p:blipFill>
        <p:spPr>
          <a:xfrm>
            <a:off x="10591800" y="1729572"/>
            <a:ext cx="7467600" cy="2641443"/>
          </a:xfrm>
          <a:prstGeom prst="rect">
            <a:avLst/>
          </a:prstGeom>
        </p:spPr>
      </p:pic>
      <p:pic>
        <p:nvPicPr>
          <p:cNvPr id="40" name="Picture 39">
            <a:extLst>
              <a:ext uri="{FF2B5EF4-FFF2-40B4-BE49-F238E27FC236}">
                <a16:creationId xmlns:a16="http://schemas.microsoft.com/office/drawing/2014/main" id="{15264BA2-FA02-A19D-BE70-D174DC4EF364}"/>
              </a:ext>
            </a:extLst>
          </p:cNvPr>
          <p:cNvPicPr>
            <a:picLocks noChangeAspect="1"/>
          </p:cNvPicPr>
          <p:nvPr/>
        </p:nvPicPr>
        <p:blipFill>
          <a:blip r:embed="rId6"/>
          <a:stretch>
            <a:fillRect/>
          </a:stretch>
        </p:blipFill>
        <p:spPr>
          <a:xfrm>
            <a:off x="10591800" y="4317108"/>
            <a:ext cx="7424226" cy="3304028"/>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8648521"/>
          </a:xfrm>
          <a:prstGeom prst="rect">
            <a:avLst/>
          </a:prstGeom>
          <a:noFill/>
        </p:spPr>
        <p:txBody>
          <a:bodyPr wrap="square" rtlCol="0">
            <a:spAutoFit/>
          </a:bodyPr>
          <a:lstStyle/>
          <a:p>
            <a:r>
              <a:rPr lang="en-US" sz="2800" b="1" dirty="0"/>
              <a:t>Events Page</a:t>
            </a:r>
          </a:p>
          <a:p>
            <a:pPr marL="1371600" lvl="2" indent="-457200">
              <a:buFont typeface="Arial" panose="020B0604020202020204" pitchFamily="34" charset="0"/>
              <a:buChar char="•"/>
            </a:pPr>
            <a:r>
              <a:rPr lang="en-US" sz="3600" dirty="0"/>
              <a:t>Shows list of available events </a:t>
            </a:r>
          </a:p>
          <a:p>
            <a:pPr marL="1371600" lvl="2" indent="-457200">
              <a:buFont typeface="Arial" panose="020B0604020202020204" pitchFamily="34" charset="0"/>
              <a:buChar char="•"/>
            </a:pPr>
            <a:r>
              <a:rPr lang="en-US" sz="3600" dirty="0"/>
              <a:t>Event details like date, location</a:t>
            </a:r>
          </a:p>
          <a:p>
            <a:pPr lvl="2"/>
            <a:endParaRPr lang="en-US" sz="3600" dirty="0"/>
          </a:p>
          <a:p>
            <a:endParaRPr lang="en-US" sz="2800" dirty="0"/>
          </a:p>
          <a:p>
            <a:r>
              <a:rPr lang="en-US" sz="2800" dirty="0"/>
              <a:t>Shows the event listing page where all available events</a:t>
            </a:r>
          </a:p>
          <a:p>
            <a:r>
              <a:rPr lang="en-US" sz="2800" dirty="0"/>
              <a:t>are displayed with details such as event name, date, time, </a:t>
            </a:r>
          </a:p>
          <a:p>
            <a:r>
              <a:rPr lang="en-US" sz="2800" dirty="0"/>
              <a:t>and Helps users to view and select events for booking.</a:t>
            </a:r>
          </a:p>
          <a:p>
            <a:endParaRPr lang="en-US" sz="2800" dirty="0"/>
          </a:p>
          <a:p>
            <a:endParaRPr lang="en-US" sz="2800" dirty="0"/>
          </a:p>
          <a:p>
            <a:r>
              <a:rPr lang="en-US" sz="2800" dirty="0"/>
              <a:t>Displays the cart page where selected tickets are shown. </a:t>
            </a:r>
          </a:p>
          <a:p>
            <a:r>
              <a:rPr lang="en-US" sz="2800" dirty="0"/>
              <a:t>Allows users to review their bookings and proceed with confirm-</a:t>
            </a:r>
          </a:p>
          <a:p>
            <a:r>
              <a:rPr lang="en-US" sz="2800" dirty="0" err="1"/>
              <a:t>ation.Improves</a:t>
            </a:r>
            <a:r>
              <a:rPr lang="en-US" sz="2800" dirty="0"/>
              <a:t> accuracy in ticket selection.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7922B7AD-B40D-2B1C-CEAC-572137729E2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72125" y="1695376"/>
            <a:ext cx="7258274" cy="5420097"/>
          </a:xfrm>
          <a:prstGeom prst="rect">
            <a:avLst/>
          </a:prstGeom>
          <a:noFill/>
          <a:ln>
            <a:noFill/>
          </a:ln>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095840" y="1708355"/>
            <a:ext cx="15082325" cy="6309420"/>
          </a:xfrm>
          <a:prstGeom prst="rect">
            <a:avLst/>
          </a:prstGeom>
          <a:noFill/>
        </p:spPr>
        <p:txBody>
          <a:bodyPr wrap="square" rtlCol="0">
            <a:spAutoFit/>
          </a:bodyPr>
          <a:lstStyle/>
          <a:p>
            <a:r>
              <a:rPr lang="en-US" sz="2800" b="1" dirty="0"/>
              <a:t>Cart Page</a:t>
            </a:r>
          </a:p>
          <a:p>
            <a:pPr marL="1371600" lvl="2" indent="-457200">
              <a:buFont typeface="Arial" panose="020B0604020202020204" pitchFamily="34" charset="0"/>
              <a:buChar char="•"/>
            </a:pPr>
            <a:r>
              <a:rPr lang="en-US" sz="2800" dirty="0"/>
              <a:t>Displays selected tickets </a:t>
            </a:r>
          </a:p>
          <a:p>
            <a:pPr marL="1371600" lvl="2" indent="-457200">
              <a:buFont typeface="Arial" panose="020B0604020202020204" pitchFamily="34" charset="0"/>
              <a:buChar char="•"/>
            </a:pPr>
            <a:r>
              <a:rPr lang="en-US" sz="2800" dirty="0"/>
              <a:t>Booking confirmation</a:t>
            </a:r>
          </a:p>
          <a:p>
            <a:pPr marL="1371600" lvl="2" indent="-457200">
              <a:buFont typeface="Arial" panose="020B0604020202020204" pitchFamily="34" charset="0"/>
              <a:buChar char="•"/>
            </a:pPr>
            <a:r>
              <a:rPr lang="en-IN" sz="2800" dirty="0"/>
              <a:t>Persistent cart storage</a:t>
            </a:r>
            <a:endParaRPr lang="en-US" sz="2800" dirty="0"/>
          </a:p>
          <a:p>
            <a:endParaRPr lang="en-US" sz="2800" dirty="0"/>
          </a:p>
          <a:p>
            <a:pPr marL="457200" indent="-457200">
              <a:buFont typeface="Wingdings" panose="05000000000000000000" pitchFamily="2" charset="2"/>
              <a:buChar char="Ø"/>
            </a:pPr>
            <a:r>
              <a:rPr lang="en-US" sz="3200" dirty="0"/>
              <a:t>The implementation of the system includes various functional components such as the home page, event listing page, cart page, and admin panel</a:t>
            </a:r>
            <a:r>
              <a:rPr lang="en-US" sz="2800" dirty="0"/>
              <a:t>.</a:t>
            </a:r>
          </a:p>
          <a:p>
            <a:pPr marL="457200" indent="-457200">
              <a:buFontTx/>
              <a:buChar char="-"/>
            </a:pPr>
            <a:endParaRPr lang="en-US" sz="2800" dirty="0"/>
          </a:p>
          <a:p>
            <a:pPr marL="457200" indent="-457200">
              <a:buFontTx/>
              <a:buChar char="-"/>
            </a:pPr>
            <a:endParaRPr lang="en-US" sz="32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E7F246DD-E5C6-1D4A-55CA-D72E1C6D694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95509" y="5613163"/>
            <a:ext cx="7138815" cy="4233587"/>
          </a:xfrm>
          <a:prstGeom prst="rect">
            <a:avLst/>
          </a:prstGeom>
          <a:noFill/>
          <a:ln>
            <a:noFill/>
          </a:ln>
        </p:spPr>
      </p:pic>
      <p:pic>
        <p:nvPicPr>
          <p:cNvPr id="3" name="Picture 2">
            <a:extLst>
              <a:ext uri="{FF2B5EF4-FFF2-40B4-BE49-F238E27FC236}">
                <a16:creationId xmlns:a16="http://schemas.microsoft.com/office/drawing/2014/main" id="{B351E4E6-BE1D-56FC-1B96-F737D4869A6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847960" y="5616893"/>
            <a:ext cx="7138815" cy="4447222"/>
          </a:xfrm>
          <a:prstGeom prst="rect">
            <a:avLst/>
          </a:prstGeom>
          <a:noFill/>
          <a:ln>
            <a:noFill/>
          </a:ln>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1968314" y="1436441"/>
            <a:ext cx="15082325" cy="7171194"/>
          </a:xfrm>
          <a:prstGeom prst="rect">
            <a:avLst/>
          </a:prstGeom>
          <a:noFill/>
        </p:spPr>
        <p:txBody>
          <a:bodyPr wrap="square" rtlCol="0">
            <a:spAutoFit/>
          </a:bodyPr>
          <a:lstStyle/>
          <a:p>
            <a:endParaRPr lang="en-US" sz="2800" dirty="0"/>
          </a:p>
          <a:p>
            <a:r>
              <a:rPr lang="en-US" sz="2800" b="1" dirty="0"/>
              <a:t>Admin Panel</a:t>
            </a:r>
          </a:p>
          <a:p>
            <a:pPr marL="914400" lvl="1" indent="-457200">
              <a:buFont typeface="Arial" panose="020B0604020202020204" pitchFamily="34" charset="0"/>
              <a:buChar char="•"/>
            </a:pPr>
            <a:r>
              <a:rPr lang="en-US" sz="2800" dirty="0"/>
              <a:t>Create new event form </a:t>
            </a:r>
          </a:p>
          <a:p>
            <a:pPr marL="914400" lvl="1" indent="-457200">
              <a:buFont typeface="Arial" panose="020B0604020202020204" pitchFamily="34" charset="0"/>
              <a:buChar char="•"/>
            </a:pPr>
            <a:r>
              <a:rPr lang="en-US" sz="2800" dirty="0"/>
              <a:t>Add event details (title, date, location)</a:t>
            </a:r>
          </a:p>
          <a:p>
            <a:pPr marL="457200" indent="-457200">
              <a:buFontTx/>
              <a:buChar char="-"/>
            </a:pPr>
            <a:endParaRPr lang="en-US" sz="2800" dirty="0"/>
          </a:p>
          <a:p>
            <a:pPr marL="457200" indent="-457200">
              <a:buFont typeface="Wingdings" panose="05000000000000000000" pitchFamily="2" charset="2"/>
              <a:buChar char="Ø"/>
            </a:pPr>
            <a:r>
              <a:rPr lang="en-US" sz="3200" dirty="0"/>
              <a:t>The admin panel enables event organizers to create and manage events. These components work together to provide a seamless and efficient user experience.</a:t>
            </a:r>
          </a:p>
          <a:p>
            <a:pPr marL="457200" indent="-457200">
              <a:buFontTx/>
              <a:buChar char="-"/>
            </a:pPr>
            <a:endParaRPr lang="en-US" sz="32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23748626-429E-D088-B248-74162322080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5074" y="5600700"/>
            <a:ext cx="6650856" cy="3962400"/>
          </a:xfrm>
          <a:prstGeom prst="rect">
            <a:avLst/>
          </a:prstGeom>
          <a:noFill/>
          <a:ln>
            <a:noFill/>
          </a:ln>
        </p:spPr>
      </p:pic>
      <p:pic>
        <p:nvPicPr>
          <p:cNvPr id="3" name="Picture 2">
            <a:extLst>
              <a:ext uri="{FF2B5EF4-FFF2-40B4-BE49-F238E27FC236}">
                <a16:creationId xmlns:a16="http://schemas.microsoft.com/office/drawing/2014/main" id="{D599C382-341D-326B-4427-5D60983C283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72600" y="5600700"/>
            <a:ext cx="7391400" cy="3962399"/>
          </a:xfrm>
          <a:prstGeom prst="rect">
            <a:avLst/>
          </a:prstGeom>
          <a:noFill/>
          <a:ln>
            <a:noFill/>
          </a:ln>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615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22C0EA88-0F9B-CA0D-D687-85AAFC168299}"/>
              </a:ext>
            </a:extLst>
          </p:cNvPr>
          <p:cNvSpPr txBox="1"/>
          <p:nvPr/>
        </p:nvSpPr>
        <p:spPr>
          <a:xfrm>
            <a:off x="1931252" y="1982349"/>
            <a:ext cx="14052884" cy="6986528"/>
          </a:xfrm>
          <a:prstGeom prst="rect">
            <a:avLst/>
          </a:prstGeom>
          <a:noFill/>
        </p:spPr>
        <p:txBody>
          <a:bodyPr wrap="square">
            <a:spAutoFit/>
          </a:bodyPr>
          <a:lstStyle/>
          <a:p>
            <a:pPr marL="457200" indent="-457200">
              <a:buFont typeface="Wingdings" panose="05000000000000000000" pitchFamily="2" charset="2"/>
              <a:buChar char="Ø"/>
            </a:pPr>
            <a:r>
              <a:rPr lang="en-IN" sz="3200" b="1" dirty="0"/>
              <a:t>ADVANTAGES</a:t>
            </a:r>
          </a:p>
          <a:p>
            <a:pPr marL="1371600" lvl="2" indent="-457200">
              <a:buFont typeface="Arial" panose="020B0604020202020204" pitchFamily="34" charset="0"/>
              <a:buChar char="•"/>
            </a:pPr>
            <a:r>
              <a:rPr lang="en-IN" sz="2800" dirty="0"/>
              <a:t>Easy event booking</a:t>
            </a:r>
          </a:p>
          <a:p>
            <a:pPr marL="1371600" lvl="2" indent="-457200">
              <a:buFont typeface="Arial" panose="020B0604020202020204" pitchFamily="34" charset="0"/>
              <a:buChar char="•"/>
            </a:pPr>
            <a:r>
              <a:rPr lang="en-IN" sz="2800" dirty="0"/>
              <a:t>Persistent cart (no data loss)</a:t>
            </a:r>
          </a:p>
          <a:p>
            <a:pPr marL="1371600" lvl="2" indent="-457200">
              <a:buFont typeface="Arial" panose="020B0604020202020204" pitchFamily="34" charset="0"/>
              <a:buChar char="•"/>
            </a:pPr>
            <a:r>
              <a:rPr lang="en-IN" sz="2800" dirty="0"/>
              <a:t>User-friendly interface</a:t>
            </a:r>
          </a:p>
          <a:p>
            <a:pPr marL="1371600" lvl="2" indent="-457200">
              <a:buFont typeface="Arial" panose="020B0604020202020204" pitchFamily="34" charset="0"/>
              <a:buChar char="•"/>
            </a:pPr>
            <a:r>
              <a:rPr lang="en-IN" sz="2800" dirty="0"/>
              <a:t>Responsive design</a:t>
            </a:r>
          </a:p>
          <a:p>
            <a:pPr marL="1371600" lvl="2" indent="-457200">
              <a:buFont typeface="Arial" panose="020B0604020202020204" pitchFamily="34" charset="0"/>
              <a:buChar char="•"/>
            </a:pPr>
            <a:r>
              <a:rPr lang="en-IN" sz="2800" dirty="0"/>
              <a:t>Real-time updates</a:t>
            </a:r>
          </a:p>
          <a:p>
            <a:pPr marL="1371600" lvl="2" indent="-457200">
              <a:buFont typeface="Arial" panose="020B0604020202020204" pitchFamily="34" charset="0"/>
              <a:buChar char="•"/>
            </a:pPr>
            <a:r>
              <a:rPr lang="en-IN" sz="2800" dirty="0"/>
              <a:t>Efficient event management</a:t>
            </a:r>
            <a:endParaRPr lang="en-IN" sz="2800" b="1" dirty="0"/>
          </a:p>
          <a:p>
            <a:endParaRPr lang="en-IN" sz="2800" dirty="0"/>
          </a:p>
          <a:p>
            <a:pPr marL="457200" indent="-457200">
              <a:buFont typeface="Wingdings" panose="05000000000000000000" pitchFamily="2" charset="2"/>
              <a:buChar char="Ø"/>
            </a:pPr>
            <a:r>
              <a:rPr lang="en-IN" sz="3200" b="1" dirty="0"/>
              <a:t> </a:t>
            </a:r>
            <a:r>
              <a:rPr lang="en-IN" sz="3200" dirty="0"/>
              <a:t>LIMITATIONS</a:t>
            </a:r>
            <a:r>
              <a:rPr lang="en-IN" sz="3200" b="1" dirty="0"/>
              <a:t> </a:t>
            </a:r>
          </a:p>
          <a:p>
            <a:pPr marL="1371600" lvl="2" indent="-457200">
              <a:buFont typeface="Arial" panose="020B0604020202020204" pitchFamily="34" charset="0"/>
              <a:buChar char="•"/>
            </a:pPr>
            <a:r>
              <a:rPr lang="en-IN" sz="2800" dirty="0"/>
              <a:t>Depends on browser storage</a:t>
            </a:r>
          </a:p>
          <a:p>
            <a:pPr marL="1371600" lvl="2" indent="-457200">
              <a:buFont typeface="Arial" panose="020B0604020202020204" pitchFamily="34" charset="0"/>
              <a:buChar char="•"/>
            </a:pPr>
            <a:r>
              <a:rPr lang="en-IN" sz="2800" dirty="0"/>
              <a:t>Depends on browser storage</a:t>
            </a:r>
          </a:p>
          <a:p>
            <a:pPr marL="1371600" lvl="2" indent="-457200">
              <a:buFont typeface="Arial" panose="020B0604020202020204" pitchFamily="34" charset="0"/>
              <a:buChar char="•"/>
            </a:pPr>
            <a:r>
              <a:rPr lang="en-IN" sz="2800" dirty="0"/>
              <a:t>No offline functionality</a:t>
            </a:r>
          </a:p>
          <a:p>
            <a:pPr marL="1371600" lvl="2" indent="-457200">
              <a:buFont typeface="Arial" panose="020B0604020202020204" pitchFamily="34" charset="0"/>
              <a:buChar char="•"/>
            </a:pPr>
            <a:r>
              <a:rPr lang="en-IN" sz="2800" dirty="0"/>
              <a:t>Payment integration complexity</a:t>
            </a:r>
            <a:r>
              <a:rPr lang="en-IN" sz="2800" b="1" dirty="0"/>
              <a:t>       </a:t>
            </a:r>
          </a:p>
          <a:p>
            <a:endParaRPr lang="en-IN" sz="2800" b="1" dirty="0"/>
          </a:p>
          <a:p>
            <a:r>
              <a:rPr lang="en-IN" sz="3200" dirty="0"/>
              <a:t>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TotalTime>
  <Words>903</Words>
  <Application>Microsoft Office PowerPoint</Application>
  <PresentationFormat>Custom</PresentationFormat>
  <Paragraphs>354</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Wingdings</vt:lpstr>
      <vt:lpstr>Gotham Bold Italics</vt:lpstr>
      <vt:lpstr>Bookman Old Style</vt:lpstr>
      <vt:lpstr>Gotham</vt:lpstr>
      <vt:lpstr>Arial</vt:lpstr>
      <vt:lpstr>Calibri</vt:lpstr>
      <vt:lpstr>Times New Roman</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Admin</dc:creator>
  <cp:lastModifiedBy>sowjanya valavala</cp:lastModifiedBy>
  <cp:revision>15</cp:revision>
  <dcterms:created xsi:type="dcterms:W3CDTF">2006-08-16T00:00:00Z</dcterms:created>
  <dcterms:modified xsi:type="dcterms:W3CDTF">2026-03-24T07:01:46Z</dcterms:modified>
  <dc:identifier>DAHCaYqJ9OU</dc:identifier>
</cp:coreProperties>
</file>